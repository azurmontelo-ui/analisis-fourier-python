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75" r:id="rId7"/>
    <p:sldId id="263" r:id="rId8"/>
    <p:sldId id="262" r:id="rId9"/>
    <p:sldId id="261"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19EEA85-949E-42E9-8FBD-0B5E7406C6B1}" type="datetimeFigureOut">
              <a:rPr lang="es-MX" smtClean="0"/>
              <a:t>24/02/2026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61174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19EEA85-949E-42E9-8FBD-0B5E7406C6B1}" type="datetimeFigureOut">
              <a:rPr lang="es-MX" smtClean="0"/>
              <a:t>24/02/2026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52737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tx2"/>
                </a:solidFill>
              </a:defRPr>
            </a:lvl1pPr>
          </a:lstStyle>
          <a:p>
            <a:fld id="{419EEA85-949E-42E9-8FBD-0B5E7406C6B1}" type="datetimeFigureOut">
              <a:rPr lang="es-MX" smtClean="0"/>
              <a:t>24/02/2026</a:t>
            </a:fld>
            <a:endParaRPr lang="es-MX"/>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MX"/>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07ACEF5E-0341-4B03-89CF-1D0567F4AC14}" type="slidenum">
              <a:rPr lang="es-MX" smtClean="0"/>
              <a:t>‹Nº›</a:t>
            </a:fld>
            <a:endParaRPr lang="es-MX"/>
          </a:p>
        </p:txBody>
      </p:sp>
    </p:spTree>
    <p:extLst>
      <p:ext uri="{BB962C8B-B14F-4D97-AF65-F5344CB8AC3E}">
        <p14:creationId xmlns:p14="http://schemas.microsoft.com/office/powerpoint/2010/main" val="63269988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19EEA85-949E-42E9-8FBD-0B5E7406C6B1}" type="datetimeFigureOut">
              <a:rPr lang="es-MX" smtClean="0"/>
              <a:t>24/02/2026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45462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19EEA85-949E-42E9-8FBD-0B5E7406C6B1}" type="datetimeFigureOut">
              <a:rPr lang="es-MX" smtClean="0"/>
              <a:t>24/02/2026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2274358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19EEA85-949E-42E9-8FBD-0B5E7406C6B1}" type="datetimeFigureOut">
              <a:rPr lang="es-MX" smtClean="0"/>
              <a:t>24/02/2026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3983206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9EEA85-949E-42E9-8FBD-0B5E7406C6B1}" type="datetimeFigureOut">
              <a:rPr lang="es-MX" smtClean="0"/>
              <a:t>24/02/2026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2467174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19EEA85-949E-42E9-8FBD-0B5E7406C6B1}" type="datetimeFigureOut">
              <a:rPr lang="es-MX" smtClean="0"/>
              <a:t>24/02/2026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144260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19EEA85-949E-42E9-8FBD-0B5E7406C6B1}" type="datetimeFigureOut">
              <a:rPr lang="es-MX" smtClean="0"/>
              <a:t>24/02/2026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2505601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19EEA85-949E-42E9-8FBD-0B5E7406C6B1}" type="datetimeFigureOut">
              <a:rPr lang="es-MX" smtClean="0"/>
              <a:t>24/02/2026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278559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Vertical Title 1"/>
          <p:cNvSpPr>
            <a:spLocks noGrp="1"/>
          </p:cNvSpPr>
          <p:nvPr>
            <p:ph type="title" orient="vert"/>
          </p:nvPr>
        </p:nvSpPr>
        <p:spPr>
          <a:xfrm>
            <a:off x="9160624" y="274638"/>
            <a:ext cx="240238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419EEA85-949E-42E9-8FBD-0B5E7406C6B1}" type="datetimeFigureOut">
              <a:rPr lang="es-MX" smtClean="0"/>
              <a:t>24/02/2026</a:t>
            </a:fld>
            <a:endParaRPr lang="es-MX"/>
          </a:p>
        </p:txBody>
      </p:sp>
      <p:sp>
        <p:nvSpPr>
          <p:cNvPr id="5" name="Footer Placeholder 4"/>
          <p:cNvSpPr>
            <a:spLocks noGrp="1"/>
          </p:cNvSpPr>
          <p:nvPr>
            <p:ph type="ftr" sz="quarter" idx="11"/>
          </p:nvPr>
        </p:nvSpPr>
        <p:spPr>
          <a:xfrm>
            <a:off x="3776135" y="6422854"/>
            <a:ext cx="4279669" cy="365125"/>
          </a:xfrm>
        </p:spPr>
        <p:txBody>
          <a:bodyPr/>
          <a:lstStyle/>
          <a:p>
            <a:endParaRPr lang="es-MX"/>
          </a:p>
        </p:txBody>
      </p:sp>
      <p:sp>
        <p:nvSpPr>
          <p:cNvPr id="6" name="Slide Number Placeholder 5"/>
          <p:cNvSpPr>
            <a:spLocks noGrp="1"/>
          </p:cNvSpPr>
          <p:nvPr>
            <p:ph type="sldNum" sz="quarter" idx="12"/>
          </p:nvPr>
        </p:nvSpPr>
        <p:spPr>
          <a:xfrm>
            <a:off x="8073048" y="6422854"/>
            <a:ext cx="879759" cy="365125"/>
          </a:xfrm>
        </p:spPr>
        <p:txBody>
          <a:bodyPr/>
          <a:lstStyle/>
          <a:p>
            <a:fld id="{07ACEF5E-0341-4B03-89CF-1D0567F4AC14}" type="slidenum">
              <a:rPr lang="es-MX" smtClean="0"/>
              <a:t>‹Nº›</a:t>
            </a:fld>
            <a:endParaRPr lang="es-MX"/>
          </a:p>
        </p:txBody>
      </p:sp>
    </p:spTree>
    <p:extLst>
      <p:ext uri="{BB962C8B-B14F-4D97-AF65-F5344CB8AC3E}">
        <p14:creationId xmlns:p14="http://schemas.microsoft.com/office/powerpoint/2010/main" val="542335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419EEA85-949E-42E9-8FBD-0B5E7406C6B1}" type="datetimeFigureOut">
              <a:rPr lang="es-MX" smtClean="0"/>
              <a:t>24/02/2026</a:t>
            </a:fld>
            <a:endParaRPr lang="es-MX"/>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s-MX"/>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07ACEF5E-0341-4B03-89CF-1D0567F4AC14}" type="slidenum">
              <a:rPr lang="es-MX" smtClean="0"/>
              <a:t>‹Nº›</a:t>
            </a:fld>
            <a:endParaRPr lang="es-MX"/>
          </a:p>
        </p:txBody>
      </p:sp>
    </p:spTree>
    <p:extLst>
      <p:ext uri="{BB962C8B-B14F-4D97-AF65-F5344CB8AC3E}">
        <p14:creationId xmlns:p14="http://schemas.microsoft.com/office/powerpoint/2010/main" val="1072087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5FBC1-3A7D-C3CA-66D8-B7DD83529064}"/>
              </a:ext>
            </a:extLst>
          </p:cNvPr>
          <p:cNvSpPr>
            <a:spLocks noGrp="1"/>
          </p:cNvSpPr>
          <p:nvPr>
            <p:ph type="ctrTitle"/>
          </p:nvPr>
        </p:nvSpPr>
        <p:spPr/>
        <p:txBody>
          <a:bodyPr>
            <a:normAutofit/>
          </a:bodyPr>
          <a:lstStyle/>
          <a:p>
            <a:r>
              <a:rPr lang="es-MX" sz="3200" b="1" i="0" dirty="0">
                <a:solidFill>
                  <a:srgbClr val="1D2125"/>
                </a:solidFill>
                <a:effectLst/>
                <a:latin typeface="Roboto" panose="02000000000000000000" pitchFamily="2" charset="0"/>
              </a:rPr>
              <a:t>Actividad formativa 2. Simulación y análisis de señales con la transformada de Fourier</a:t>
            </a:r>
          </a:p>
        </p:txBody>
      </p:sp>
      <p:sp>
        <p:nvSpPr>
          <p:cNvPr id="3" name="Subtítulo 2">
            <a:extLst>
              <a:ext uri="{FF2B5EF4-FFF2-40B4-BE49-F238E27FC236}">
                <a16:creationId xmlns:a16="http://schemas.microsoft.com/office/drawing/2014/main" id="{A457787C-6554-700A-E703-F7F4FF4C3A4A}"/>
              </a:ext>
            </a:extLst>
          </p:cNvPr>
          <p:cNvSpPr>
            <a:spLocks noGrp="1"/>
          </p:cNvSpPr>
          <p:nvPr>
            <p:ph type="subTitle" idx="1"/>
          </p:nvPr>
        </p:nvSpPr>
        <p:spPr>
          <a:xfrm>
            <a:off x="1381125" y="4332024"/>
            <a:ext cx="9144000" cy="1309255"/>
          </a:xfrm>
        </p:spPr>
        <p:txBody>
          <a:bodyPr/>
          <a:lstStyle/>
          <a:p>
            <a:r>
              <a:rPr lang="es-ES" dirty="0">
                <a:solidFill>
                  <a:schemeClr val="bg1"/>
                </a:solidFill>
              </a:rPr>
              <a:t>Azur Adán Bravo Luna</a:t>
            </a:r>
          </a:p>
          <a:p>
            <a:r>
              <a:rPr lang="es-MX" dirty="0">
                <a:solidFill>
                  <a:schemeClr val="bg1"/>
                </a:solidFill>
              </a:rPr>
              <a:t>Matricula: 16947</a:t>
            </a:r>
          </a:p>
          <a:p>
            <a:r>
              <a:rPr lang="es-MX" dirty="0">
                <a:solidFill>
                  <a:schemeClr val="bg1"/>
                </a:solidFill>
                <a:latin typeface="+mj-lt"/>
              </a:rPr>
              <a:t>Materia: Señales y Sistemas (A) (2026-1)</a:t>
            </a:r>
            <a:endParaRPr lang="es-ES" dirty="0">
              <a:solidFill>
                <a:schemeClr val="bg1"/>
              </a:solidFill>
              <a:latin typeface="+mj-lt"/>
            </a:endParaRPr>
          </a:p>
        </p:txBody>
      </p:sp>
      <p:pic>
        <p:nvPicPr>
          <p:cNvPr id="4" name="Imagen 3">
            <a:extLst>
              <a:ext uri="{FF2B5EF4-FFF2-40B4-BE49-F238E27FC236}">
                <a16:creationId xmlns:a16="http://schemas.microsoft.com/office/drawing/2014/main" id="{C54A203C-2724-2F7C-EDBA-76DE15503702}"/>
              </a:ext>
            </a:extLst>
          </p:cNvPr>
          <p:cNvPicPr>
            <a:picLocks noChangeAspect="1"/>
          </p:cNvPicPr>
          <p:nvPr/>
        </p:nvPicPr>
        <p:blipFill>
          <a:blip r:embed="rId2"/>
          <a:stretch>
            <a:fillRect/>
          </a:stretch>
        </p:blipFill>
        <p:spPr>
          <a:xfrm>
            <a:off x="3022209" y="487680"/>
            <a:ext cx="6147582" cy="1200444"/>
          </a:xfrm>
          <a:prstGeom prst="rect">
            <a:avLst/>
          </a:prstGeom>
        </p:spPr>
      </p:pic>
    </p:spTree>
    <p:extLst>
      <p:ext uri="{BB962C8B-B14F-4D97-AF65-F5344CB8AC3E}">
        <p14:creationId xmlns:p14="http://schemas.microsoft.com/office/powerpoint/2010/main" val="422777548"/>
      </p:ext>
    </p:extLst>
  </p:cSld>
  <p:clrMapOvr>
    <a:masterClrMapping/>
  </p:clrMapOvr>
  <mc:AlternateContent xmlns:mc="http://schemas.openxmlformats.org/markup-compatibility/2006" xmlns:p14="http://schemas.microsoft.com/office/powerpoint/2010/main">
    <mc:Choice Requires="p14">
      <p:transition spd="slow" p14:dur="2000" advTm="36628"/>
    </mc:Choice>
    <mc:Fallback xmlns="">
      <p:transition spd="slow" advTm="366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5F365C-2968-6994-52FD-F169FCC6BF38}"/>
              </a:ext>
            </a:extLst>
          </p:cNvPr>
          <p:cNvSpPr>
            <a:spLocks noGrp="1"/>
          </p:cNvSpPr>
          <p:nvPr>
            <p:ph type="title"/>
          </p:nvPr>
        </p:nvSpPr>
        <p:spPr>
          <a:xfrm>
            <a:off x="1202919" y="284176"/>
            <a:ext cx="9784080" cy="1508760"/>
          </a:xfrm>
        </p:spPr>
        <p:txBody>
          <a:bodyPr>
            <a:normAutofit/>
          </a:bodyPr>
          <a:lstStyle/>
          <a:p>
            <a:pPr algn="ctr"/>
            <a:r>
              <a:rPr lang="es-MX" dirty="0"/>
              <a:t>Introducción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BC1A0B1C-048F-0640-FC83-C0EB1B0B407C}"/>
                  </a:ext>
                </a:extLst>
              </p:cNvPr>
              <p:cNvSpPr>
                <a:spLocks noGrp="1"/>
              </p:cNvSpPr>
              <p:nvPr>
                <p:ph idx="1"/>
              </p:nvPr>
            </p:nvSpPr>
            <p:spPr>
              <a:xfrm>
                <a:off x="157163" y="1935480"/>
                <a:ext cx="12034837" cy="4206240"/>
              </a:xfrm>
            </p:spPr>
            <p:txBody>
              <a:bodyPr>
                <a:normAutofit/>
              </a:bodyPr>
              <a:lstStyle/>
              <a:p>
                <a:pPr marL="0" indent="0">
                  <a:buNone/>
                </a:pPr>
                <a:r>
                  <a:rPr lang="es-MX" sz="2000" b="1" dirty="0"/>
                  <a:t>Definición</a:t>
                </a:r>
                <a:r>
                  <a:rPr lang="es-MX" sz="2000" dirty="0"/>
                  <a:t>: </a:t>
                </a:r>
              </a:p>
              <a:p>
                <a:pPr marL="0" indent="0">
                  <a:buNone/>
                </a:pPr>
                <a:r>
                  <a:rPr lang="es-MX" sz="1800" dirty="0"/>
                  <a:t>La Transformada de Fourier (TF) es una operación matemática que descompone una señal </a:t>
                </a:r>
                <a14:m>
                  <m:oMath xmlns:m="http://schemas.openxmlformats.org/officeDocument/2006/math">
                    <m:r>
                      <a:rPr lang="en-US" sz="1800" i="1"/>
                      <m:t>𝑥</m:t>
                    </m:r>
                    <m:r>
                      <a:rPr lang="en-US" sz="1800"/>
                      <m:t>(</m:t>
                    </m:r>
                    <m:r>
                      <a:rPr lang="en-US" sz="1800" i="1"/>
                      <m:t>𝑡</m:t>
                    </m:r>
                    <m:r>
                      <a:rPr lang="en-US" sz="1800"/>
                      <m:t>)</m:t>
                    </m:r>
                  </m:oMath>
                </a14:m>
                <a:r>
                  <a:rPr lang="es-MX" sz="1800" dirty="0"/>
                  <a:t> en sus componentes de frecuencia.</a:t>
                </a:r>
              </a:p>
              <a:p>
                <a:pPr marL="0" indent="0">
                  <a:buNone/>
                </a:pPr>
                <a:r>
                  <a:rPr lang="es-MX" sz="2000" b="1" dirty="0"/>
                  <a:t>Fórmula Base: </a:t>
                </a:r>
              </a:p>
              <a:p>
                <a:pPr marL="0" indent="0">
                  <a:buNone/>
                </a:pPr>
                <a14:m>
                  <m:oMathPara xmlns:m="http://schemas.openxmlformats.org/officeDocument/2006/math">
                    <m:oMathParaPr>
                      <m:jc m:val="left"/>
                    </m:oMathParaPr>
                    <m:oMath xmlns:m="http://schemas.openxmlformats.org/officeDocument/2006/math">
                      <m:r>
                        <a:rPr lang="en-US" sz="1800" i="1"/>
                        <m:t>𝑋</m:t>
                      </m:r>
                      <m:r>
                        <a:rPr lang="en-US" sz="1800"/>
                        <m:t>(</m:t>
                      </m:r>
                      <m:r>
                        <a:rPr lang="en-US" sz="1800" i="1"/>
                        <m:t>𝑓</m:t>
                      </m:r>
                      <m:r>
                        <a:rPr lang="en-US" sz="1800"/>
                        <m:t>)=</m:t>
                      </m:r>
                      <m:nary>
                        <m:naryPr>
                          <m:limLoc m:val="subSup"/>
                          <m:grow m:val="on"/>
                          <m:ctrlPr>
                            <a:rPr lang="es-MX" sz="1800" i="1"/>
                          </m:ctrlPr>
                        </m:naryPr>
                        <m:sub>
                          <m:r>
                            <a:rPr lang="en-US" sz="1800" i="1"/>
                            <m:t>−</m:t>
                          </m:r>
                          <m:r>
                            <a:rPr lang="en-US" sz="1800"/>
                            <m:t>∞</m:t>
                          </m:r>
                        </m:sub>
                        <m:sup>
                          <m:r>
                            <a:rPr lang="en-US" sz="1800"/>
                            <m:t>∞</m:t>
                          </m:r>
                        </m:sup>
                        <m:e>
                          <m:r>
                            <a:rPr lang="en-US" sz="1800"/>
                            <m:t> </m:t>
                          </m:r>
                        </m:e>
                      </m:nary>
                      <m:r>
                        <a:rPr lang="en-US" sz="1800"/>
                        <m:t> </m:t>
                      </m:r>
                      <m:r>
                        <a:rPr lang="en-US" sz="1800" i="1"/>
                        <m:t>𝑥</m:t>
                      </m:r>
                      <m:r>
                        <a:rPr lang="en-US" sz="1800"/>
                        <m:t>(</m:t>
                      </m:r>
                      <m:r>
                        <a:rPr lang="en-US" sz="1800" i="1"/>
                        <m:t>𝑡</m:t>
                      </m:r>
                      <m:r>
                        <a:rPr lang="en-US" sz="1800"/>
                        <m:t>)</m:t>
                      </m:r>
                      <m:sSup>
                        <m:sSupPr>
                          <m:ctrlPr>
                            <a:rPr lang="es-MX" sz="1800" i="1"/>
                          </m:ctrlPr>
                        </m:sSupPr>
                        <m:e>
                          <m:r>
                            <a:rPr lang="en-US" sz="1800" i="1"/>
                            <m:t>𝑒</m:t>
                          </m:r>
                        </m:e>
                        <m:sup>
                          <m:r>
                            <a:rPr lang="en-US" sz="1800" i="1"/>
                            <m:t>−</m:t>
                          </m:r>
                          <m:r>
                            <a:rPr lang="en-US" sz="1800" i="1"/>
                            <m:t>𝑗</m:t>
                          </m:r>
                          <m:r>
                            <a:rPr lang="en-US" sz="1800"/>
                            <m:t>2</m:t>
                          </m:r>
                          <m:r>
                            <a:rPr lang="en-US" sz="1800" i="1"/>
                            <m:t>𝜋</m:t>
                          </m:r>
                          <m:r>
                            <a:rPr lang="en-US" sz="1800" i="1"/>
                            <m:t>𝑓𝑡</m:t>
                          </m:r>
                        </m:sup>
                      </m:sSup>
                      <m:r>
                        <a:rPr lang="en-US" sz="1800" i="1"/>
                        <m:t>𝑑𝑡</m:t>
                      </m:r>
                    </m:oMath>
                  </m:oMathPara>
                </a14:m>
                <a:endParaRPr lang="es-MX" sz="1800" dirty="0"/>
              </a:p>
              <a:p>
                <a:pPr marL="0" indent="0">
                  <a:buNone/>
                </a:pPr>
                <a:r>
                  <a:rPr lang="es-MX" sz="2000" b="1" dirty="0"/>
                  <a:t>Importancia: </a:t>
                </a:r>
              </a:p>
              <a:p>
                <a:pPr marL="0" indent="0">
                  <a:buNone/>
                </a:pPr>
                <a:r>
                  <a:rPr lang="es-MX" sz="1800" dirty="0"/>
                  <a:t>En ingeniería, nos permite diseñar filtros, comprimir audio (MP3) y analizar la estabilidad de sistemas de control.</a:t>
                </a:r>
              </a:p>
              <a:p>
                <a:pPr marL="0" indent="0">
                  <a:buNone/>
                </a:pPr>
                <a:r>
                  <a:rPr lang="es-MX" sz="2000" b="1" dirty="0"/>
                  <a:t>Concepto Clave:</a:t>
                </a:r>
              </a:p>
              <a:p>
                <a:pPr marL="0" indent="0">
                  <a:buNone/>
                </a:pPr>
                <a:r>
                  <a:rPr lang="es-MX" sz="1800" dirty="0"/>
                  <a:t> "Lo que es ancho en el tiempo es angosto en la frecuencia, y viceversa".</a:t>
                </a:r>
              </a:p>
            </p:txBody>
          </p:sp>
        </mc:Choice>
        <mc:Fallback>
          <p:sp>
            <p:nvSpPr>
              <p:cNvPr id="3" name="Marcador de contenido 2">
                <a:extLst>
                  <a:ext uri="{FF2B5EF4-FFF2-40B4-BE49-F238E27FC236}">
                    <a16:creationId xmlns:a16="http://schemas.microsoft.com/office/drawing/2014/main" id="{BC1A0B1C-048F-0640-FC83-C0EB1B0B407C}"/>
                  </a:ext>
                </a:extLst>
              </p:cNvPr>
              <p:cNvSpPr>
                <a:spLocks noGrp="1" noRot="1" noChangeAspect="1" noMove="1" noResize="1" noEditPoints="1" noAdjustHandles="1" noChangeArrowheads="1" noChangeShapeType="1" noTextEdit="1"/>
              </p:cNvSpPr>
              <p:nvPr>
                <p:ph idx="1"/>
              </p:nvPr>
            </p:nvSpPr>
            <p:spPr>
              <a:xfrm>
                <a:off x="157163" y="1935480"/>
                <a:ext cx="12034837" cy="4206240"/>
              </a:xfrm>
              <a:blipFill>
                <a:blip r:embed="rId2"/>
                <a:stretch>
                  <a:fillRect l="-557" t="-1594"/>
                </a:stretch>
              </a:blipFill>
            </p:spPr>
            <p:txBody>
              <a:bodyPr/>
              <a:lstStyle/>
              <a:p>
                <a:r>
                  <a:rPr lang="es-MX">
                    <a:noFill/>
                  </a:rPr>
                  <a:t> </a:t>
                </a:r>
              </a:p>
            </p:txBody>
          </p:sp>
        </mc:Fallback>
      </mc:AlternateContent>
    </p:spTree>
    <p:extLst>
      <p:ext uri="{BB962C8B-B14F-4D97-AF65-F5344CB8AC3E}">
        <p14:creationId xmlns:p14="http://schemas.microsoft.com/office/powerpoint/2010/main" val="919038973"/>
      </p:ext>
    </p:extLst>
  </p:cSld>
  <p:clrMapOvr>
    <a:masterClrMapping/>
  </p:clrMapOvr>
  <mc:AlternateContent xmlns:mc="http://schemas.openxmlformats.org/markup-compatibility/2006" xmlns:p14="http://schemas.microsoft.com/office/powerpoint/2010/main">
    <mc:Choice Requires="p14">
      <p:transition spd="slow" p14:dur="2000" advTm="41636"/>
    </mc:Choice>
    <mc:Fallback xmlns="">
      <p:transition spd="slow" advTm="4163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3ADD3-3499-AB6E-5D2F-BDACCCA44458}"/>
              </a:ext>
            </a:extLst>
          </p:cNvPr>
          <p:cNvSpPr>
            <a:spLocks noGrp="1"/>
          </p:cNvSpPr>
          <p:nvPr>
            <p:ph type="title"/>
          </p:nvPr>
        </p:nvSpPr>
        <p:spPr>
          <a:xfrm>
            <a:off x="1202919" y="284176"/>
            <a:ext cx="9784080" cy="1508760"/>
          </a:xfrm>
        </p:spPr>
        <p:txBody>
          <a:bodyPr>
            <a:normAutofit/>
          </a:bodyPr>
          <a:lstStyle/>
          <a:p>
            <a:pPr algn="ctr"/>
            <a:r>
              <a:rPr lang="es-MX" dirty="0"/>
              <a:t>Herramientas de Desarrollo</a:t>
            </a:r>
          </a:p>
        </p:txBody>
      </p:sp>
      <p:sp>
        <p:nvSpPr>
          <p:cNvPr id="3" name="Marcador de contenido 2">
            <a:extLst>
              <a:ext uri="{FF2B5EF4-FFF2-40B4-BE49-F238E27FC236}">
                <a16:creationId xmlns:a16="http://schemas.microsoft.com/office/drawing/2014/main" id="{9D9A3914-66A5-A989-4A4B-B245F2A27176}"/>
              </a:ext>
            </a:extLst>
          </p:cNvPr>
          <p:cNvSpPr>
            <a:spLocks noGrp="1"/>
          </p:cNvSpPr>
          <p:nvPr>
            <p:ph idx="1"/>
          </p:nvPr>
        </p:nvSpPr>
        <p:spPr>
          <a:xfrm>
            <a:off x="314325" y="2045110"/>
            <a:ext cx="10672673" cy="4172810"/>
          </a:xfrm>
        </p:spPr>
        <p:txBody>
          <a:bodyPr>
            <a:normAutofit/>
          </a:bodyPr>
          <a:lstStyle/>
          <a:p>
            <a:pPr marL="0" indent="0">
              <a:buNone/>
            </a:pPr>
            <a:r>
              <a:rPr lang="es-MX" sz="2000" b="1" dirty="0"/>
              <a:t>Lenguaje:</a:t>
            </a:r>
          </a:p>
          <a:p>
            <a:pPr marL="0" indent="0">
              <a:buNone/>
            </a:pPr>
            <a:r>
              <a:rPr lang="es-MX" sz="1800" dirty="0"/>
              <a:t> Python</a:t>
            </a:r>
          </a:p>
          <a:p>
            <a:pPr marL="0" indent="0">
              <a:buNone/>
            </a:pPr>
            <a:r>
              <a:rPr lang="es-MX" sz="2000" b="1" dirty="0"/>
              <a:t>Librerías Utilizadas:</a:t>
            </a:r>
            <a:endParaRPr lang="es-MX" sz="2000" dirty="0"/>
          </a:p>
          <a:p>
            <a:pPr marL="742950" lvl="1" indent="-285750">
              <a:buFont typeface="Arial" panose="020B0604020202020204" pitchFamily="34" charset="0"/>
              <a:buChar char="•"/>
            </a:pPr>
            <a:r>
              <a:rPr lang="es-MX" sz="1800" b="1" dirty="0"/>
              <a:t>NumPy:</a:t>
            </a:r>
            <a:r>
              <a:rPr lang="es-MX" sz="1800" dirty="0"/>
              <a:t> Procesamiento numérico y manejo de arreglos de señales.</a:t>
            </a:r>
          </a:p>
          <a:p>
            <a:pPr marL="742950" lvl="1" indent="-285750">
              <a:buFont typeface="Arial" panose="020B0604020202020204" pitchFamily="34" charset="0"/>
              <a:buChar char="•"/>
            </a:pPr>
            <a:r>
              <a:rPr lang="es-MX" sz="1800" b="1" dirty="0"/>
              <a:t>SciPy/NumPy FFT:</a:t>
            </a:r>
            <a:r>
              <a:rPr lang="es-MX" sz="1800" dirty="0"/>
              <a:t> Algoritmo de la Transformada Rápida de Fourier (Fast Fourier Transform).</a:t>
            </a:r>
          </a:p>
          <a:p>
            <a:pPr marL="742950" lvl="1" indent="-285750">
              <a:buFont typeface="Arial" panose="020B0604020202020204" pitchFamily="34" charset="0"/>
              <a:buChar char="•"/>
            </a:pPr>
            <a:r>
              <a:rPr lang="es-MX" sz="1800" b="1" dirty="0"/>
              <a:t>Matplotlib:</a:t>
            </a:r>
            <a:r>
              <a:rPr lang="es-MX" sz="1800" dirty="0"/>
              <a:t> Generación de gráficos de alta precisión.</a:t>
            </a:r>
          </a:p>
          <a:p>
            <a:pPr marL="0" indent="0">
              <a:buNone/>
            </a:pPr>
            <a:r>
              <a:rPr lang="es-MX" sz="2000" b="1" dirty="0"/>
              <a:t>Entorno:</a:t>
            </a:r>
            <a:r>
              <a:rPr lang="es-MX" sz="2000" dirty="0"/>
              <a:t> </a:t>
            </a:r>
          </a:p>
          <a:p>
            <a:pPr marL="0" indent="0">
              <a:buNone/>
            </a:pPr>
            <a:r>
              <a:rPr lang="es-MX" sz="1800" dirty="0"/>
              <a:t>Google Colab para ejecución en la nube.</a:t>
            </a:r>
          </a:p>
          <a:p>
            <a:pPr marL="0" indent="0">
              <a:buNone/>
            </a:pPr>
            <a:r>
              <a:rPr lang="es-MX" sz="2000" b="1" dirty="0"/>
              <a:t>Repositorio:</a:t>
            </a:r>
            <a:r>
              <a:rPr lang="es-MX" sz="2000" dirty="0"/>
              <a:t> </a:t>
            </a:r>
          </a:p>
          <a:p>
            <a:pPr marL="0" indent="0">
              <a:buNone/>
            </a:pPr>
            <a:r>
              <a:rPr lang="es-MX" sz="1800" dirty="0"/>
              <a:t>GitHub para control de versiones y documentación.</a:t>
            </a:r>
          </a:p>
          <a:p>
            <a:pPr marL="0" indent="0">
              <a:buNone/>
            </a:pPr>
            <a:endParaRPr lang="es-MX" dirty="0"/>
          </a:p>
        </p:txBody>
      </p:sp>
    </p:spTree>
    <p:extLst>
      <p:ext uri="{BB962C8B-B14F-4D97-AF65-F5344CB8AC3E}">
        <p14:creationId xmlns:p14="http://schemas.microsoft.com/office/powerpoint/2010/main" val="498794901"/>
      </p:ext>
    </p:extLst>
  </p:cSld>
  <p:clrMapOvr>
    <a:masterClrMapping/>
  </p:clrMapOvr>
  <mc:AlternateContent xmlns:mc="http://schemas.openxmlformats.org/markup-compatibility/2006" xmlns:p14="http://schemas.microsoft.com/office/powerpoint/2010/main">
    <mc:Choice Requires="p14">
      <p:transition spd="slow" p14:dur="2000" advTm="43682"/>
    </mc:Choice>
    <mc:Fallback xmlns="">
      <p:transition spd="slow" advTm="4368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EEFDE-758F-5CB8-1E3A-F208AD679B91}"/>
              </a:ext>
            </a:extLst>
          </p:cNvPr>
          <p:cNvSpPr>
            <a:spLocks noGrp="1"/>
          </p:cNvSpPr>
          <p:nvPr>
            <p:ph type="title"/>
          </p:nvPr>
        </p:nvSpPr>
        <p:spPr>
          <a:xfrm>
            <a:off x="602500" y="261961"/>
            <a:ext cx="10986999" cy="1508760"/>
          </a:xfrm>
        </p:spPr>
        <p:txBody>
          <a:bodyPr>
            <a:normAutofit/>
          </a:bodyPr>
          <a:lstStyle/>
          <a:p>
            <a:pPr algn="ctr"/>
            <a:r>
              <a:rPr lang="es-MX" dirty="0"/>
              <a:t>Implementación de Señales Elementales</a:t>
            </a:r>
          </a:p>
        </p:txBody>
      </p:sp>
      <mc:AlternateContent xmlns:mc="http://schemas.openxmlformats.org/markup-compatibility/2006">
        <mc:Choice xmlns:a14="http://schemas.microsoft.com/office/drawing/2010/main" Requires="a14">
          <p:sp>
            <p:nvSpPr>
              <p:cNvPr id="4" name="Rectangle 1">
                <a:extLst>
                  <a:ext uri="{FF2B5EF4-FFF2-40B4-BE49-F238E27FC236}">
                    <a16:creationId xmlns:a16="http://schemas.microsoft.com/office/drawing/2014/main" id="{956BB3E9-3635-7BEF-9C2A-798BF192CFA1}"/>
                  </a:ext>
                </a:extLst>
              </p:cNvPr>
              <p:cNvSpPr>
                <a:spLocks noGrp="1" noChangeArrowheads="1"/>
              </p:cNvSpPr>
              <p:nvPr>
                <p:ph idx="1"/>
              </p:nvPr>
            </p:nvSpPr>
            <p:spPr bwMode="auto">
              <a:xfrm>
                <a:off x="127001" y="2163729"/>
                <a:ext cx="10398642" cy="36779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s-MX" altLang="es-MX" sz="2000" b="1" i="0" u="none" strike="noStrike" cap="none" normalizeH="0" baseline="0" dirty="0">
                    <a:ln>
                      <a:noFill/>
                    </a:ln>
                    <a:solidFill>
                      <a:schemeClr val="tx1"/>
                    </a:solidFill>
                    <a:effectLst/>
                  </a:rPr>
                  <a:t>Proceso de Simulación</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Muestreo:</a:t>
                </a:r>
              </a:p>
              <a:p>
                <a:pPr marL="0" indent="0" eaLnBrk="0" fontAlgn="base" hangingPunct="0">
                  <a:lnSpc>
                    <a:spcPct val="100000"/>
                  </a:lnSpc>
                  <a:spcBef>
                    <a:spcPct val="0"/>
                  </a:spcBef>
                  <a:spcAft>
                    <a:spcPct val="0"/>
                  </a:spcAft>
                  <a:buClrTx/>
                  <a:buNone/>
                </a:pPr>
                <a:r>
                  <a:rPr kumimoji="0" lang="es-MX" altLang="es-MX" sz="1800" b="0" i="0" u="none" strike="noStrike" cap="none" normalizeH="0" baseline="0" dirty="0">
                    <a:ln>
                      <a:noFill/>
                    </a:ln>
                    <a:solidFill>
                      <a:schemeClr val="tx1"/>
                    </a:solidFill>
                    <a:effectLst/>
                  </a:rPr>
                  <a:t> Definimos un tiempo de muestreo </a:t>
                </a:r>
                <a14:m>
                  <m:oMath xmlns:m="http://schemas.openxmlformats.org/officeDocument/2006/math">
                    <m:sSub>
                      <m:sSubPr>
                        <m:ctrlPr>
                          <a:rPr lang="es-MX" sz="1800" i="1"/>
                        </m:ctrlPr>
                      </m:sSubPr>
                      <m:e>
                        <m:r>
                          <a:rPr lang="en-US" sz="1800" i="1"/>
                          <m:t>𝑓</m:t>
                        </m:r>
                      </m:e>
                      <m:sub>
                        <m:r>
                          <a:rPr lang="en-US" sz="1800" i="1"/>
                          <m:t>𝑠</m:t>
                        </m:r>
                      </m:sub>
                    </m:sSub>
                    <m:r>
                      <a:rPr lang="en-US" sz="1800"/>
                      <m:t>(1000</m:t>
                    </m:r>
                    <m:r>
                      <m:rPr>
                        <m:nor/>
                      </m:rPr>
                      <a:rPr lang="en-US" sz="1800"/>
                      <m:t> </m:t>
                    </m:r>
                    <m:r>
                      <m:rPr>
                        <m:sty m:val="p"/>
                      </m:rPr>
                      <a:rPr lang="en-US" sz="1800"/>
                      <m:t>Hz</m:t>
                    </m:r>
                    <m:r>
                      <a:rPr lang="en-US" sz="1800"/>
                      <m:t>)</m:t>
                    </m:r>
                  </m:oMath>
                </a14:m>
                <a:r>
                  <a:rPr lang="es-MX" altLang="es-MX" sz="1800" dirty="0"/>
                  <a:t> </a:t>
                </a:r>
                <a:r>
                  <a:rPr kumimoji="0" lang="es-MX" altLang="es-MX" sz="1800" b="0" i="0" u="none" strike="noStrike" cap="none" normalizeH="0" baseline="0" dirty="0">
                    <a:ln>
                      <a:noFill/>
                    </a:ln>
                    <a:solidFill>
                      <a:schemeClr val="tx1"/>
                    </a:solidFill>
                    <a:effectLst/>
                  </a:rPr>
                  <a:t> para convertir la señal analógica en digital.</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Señal Senoidal:</a:t>
                </a:r>
              </a:p>
              <a:p>
                <a:pPr marL="0" indent="0" eaLnBrk="0" fontAlgn="base" hangingPunct="0">
                  <a:lnSpc>
                    <a:spcPct val="100000"/>
                  </a:lnSpc>
                  <a:spcBef>
                    <a:spcPct val="0"/>
                  </a:spcBef>
                  <a:spcAft>
                    <a:spcPct val="0"/>
                  </a:spcAft>
                  <a:buClrTx/>
                  <a:buNone/>
                </a:pPr>
                <a:r>
                  <a:rPr kumimoji="0" lang="es-MX" altLang="es-MX" sz="1800" b="0" i="0" u="none" strike="noStrike" cap="none" normalizeH="0" baseline="0" dirty="0">
                    <a:ln>
                      <a:noFill/>
                    </a:ln>
                    <a:solidFill>
                      <a:schemeClr val="tx1"/>
                    </a:solidFill>
                    <a:effectLst/>
                  </a:rPr>
                  <a:t> </a:t>
                </a:r>
                <a14:m>
                  <m:oMath xmlns:m="http://schemas.openxmlformats.org/officeDocument/2006/math">
                    <m:r>
                      <a:rPr lang="en-US" sz="1800" i="1"/>
                      <m:t>𝑥</m:t>
                    </m:r>
                    <m:d>
                      <m:dPr>
                        <m:ctrlPr>
                          <a:rPr lang="en-US" sz="1800" i="1"/>
                        </m:ctrlPr>
                      </m:dPr>
                      <m:e>
                        <m:r>
                          <a:rPr lang="en-US" sz="1800" i="1"/>
                          <m:t>𝑡</m:t>
                        </m:r>
                      </m:e>
                    </m:d>
                    <m:r>
                      <a:rPr lang="en-US" sz="1800"/>
                      <m:t>=</m:t>
                    </m:r>
                    <m:r>
                      <a:rPr lang="en-US" sz="1800" i="1"/>
                      <m:t>𝐴</m:t>
                    </m:r>
                    <m:r>
                      <a:rPr lang="en-US" sz="1800"/>
                      <m:t>⋅</m:t>
                    </m:r>
                    <m:r>
                      <m:rPr>
                        <m:sty m:val="p"/>
                      </m:rPr>
                      <a:rPr lang="en-US" sz="1800"/>
                      <m:t>sin</m:t>
                    </m:r>
                    <m:d>
                      <m:dPr>
                        <m:ctrlPr>
                          <a:rPr lang="es-MX" sz="1800" i="1"/>
                        </m:ctrlPr>
                      </m:dPr>
                      <m:e>
                        <m:r>
                          <a:rPr lang="en-US" sz="1800"/>
                          <m:t>2</m:t>
                        </m:r>
                        <m:r>
                          <a:rPr lang="en-US" sz="1800" i="1"/>
                          <m:t>𝜋</m:t>
                        </m:r>
                        <m:sSub>
                          <m:sSubPr>
                            <m:ctrlPr>
                              <a:rPr lang="es-MX" sz="1800" i="1"/>
                            </m:ctrlPr>
                          </m:sSubPr>
                          <m:e>
                            <m:r>
                              <a:rPr lang="en-US" sz="1800" i="1"/>
                              <m:t>𝑓</m:t>
                            </m:r>
                          </m:e>
                          <m:sub>
                            <m:r>
                              <a:rPr lang="en-US" sz="1800"/>
                              <m:t>0</m:t>
                            </m:r>
                          </m:sub>
                        </m:sSub>
                        <m:r>
                          <a:rPr lang="en-US" sz="1800" i="1"/>
                          <m:t>𝑡</m:t>
                        </m:r>
                      </m:e>
                    </m:d>
                  </m:oMath>
                </a14:m>
                <a:endParaRPr lang="es-MX"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Pulso Rectangular:</a:t>
                </a: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 Definido mediante una función condicional.</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Visualización:</a:t>
                </a: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 Se representan las señales en el eje horizontal del tiempo (segundos).</a:t>
                </a:r>
              </a:p>
            </p:txBody>
          </p:sp>
        </mc:Choice>
        <mc:Fallback>
          <p:sp>
            <p:nvSpPr>
              <p:cNvPr id="4" name="Rectangle 1">
                <a:extLst>
                  <a:ext uri="{FF2B5EF4-FFF2-40B4-BE49-F238E27FC236}">
                    <a16:creationId xmlns:a16="http://schemas.microsoft.com/office/drawing/2014/main" id="{956BB3E9-3635-7BEF-9C2A-798BF192CFA1}"/>
                  </a:ext>
                </a:extLst>
              </p:cNvPr>
              <p:cNvSpPr>
                <a:spLocks noGrp="1" noRot="1" noChangeAspect="1" noMove="1" noResize="1" noEditPoints="1" noAdjustHandles="1" noChangeArrowheads="1" noChangeShapeType="1" noTextEdit="1"/>
              </p:cNvSpPr>
              <p:nvPr>
                <p:ph idx="1"/>
              </p:nvPr>
            </p:nvSpPr>
            <p:spPr bwMode="auto">
              <a:xfrm>
                <a:off x="127001" y="2163729"/>
                <a:ext cx="10398642" cy="3677930"/>
              </a:xfrm>
              <a:prstGeom prst="rect">
                <a:avLst/>
              </a:prstGeom>
              <a:blipFill>
                <a:blip r:embed="rId2"/>
                <a:stretch>
                  <a:fillRect l="-528" t="-1658" b="-215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MX">
                    <a:noFill/>
                  </a:rPr>
                  <a:t> </a:t>
                </a:r>
              </a:p>
            </p:txBody>
          </p:sp>
        </mc:Fallback>
      </mc:AlternateContent>
    </p:spTree>
    <p:extLst>
      <p:ext uri="{BB962C8B-B14F-4D97-AF65-F5344CB8AC3E}">
        <p14:creationId xmlns:p14="http://schemas.microsoft.com/office/powerpoint/2010/main" val="320048335"/>
      </p:ext>
    </p:extLst>
  </p:cSld>
  <p:clrMapOvr>
    <a:masterClrMapping/>
  </p:clrMapOvr>
  <mc:AlternateContent xmlns:mc="http://schemas.openxmlformats.org/markup-compatibility/2006" xmlns:p14="http://schemas.microsoft.com/office/powerpoint/2010/main">
    <mc:Choice Requires="p14">
      <p:transition spd="slow" p14:dur="2000" advTm="43311"/>
    </mc:Choice>
    <mc:Fallback xmlns="">
      <p:transition spd="slow" advTm="4331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C9F2DA3-B8CB-8284-1127-C4E59472D9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82CF79-90EA-EADE-C63C-D3C939B7E981}"/>
              </a:ext>
            </a:extLst>
          </p:cNvPr>
          <p:cNvSpPr>
            <a:spLocks noGrp="1"/>
          </p:cNvSpPr>
          <p:nvPr>
            <p:ph type="title"/>
          </p:nvPr>
        </p:nvSpPr>
        <p:spPr>
          <a:xfrm>
            <a:off x="1202919" y="284176"/>
            <a:ext cx="9784080" cy="1508760"/>
          </a:xfrm>
        </p:spPr>
        <p:txBody>
          <a:bodyPr>
            <a:normAutofit/>
          </a:bodyPr>
          <a:lstStyle/>
          <a:p>
            <a:pPr algn="ctr"/>
            <a:r>
              <a:rPr lang="es-MX" dirty="0"/>
              <a:t>Espectro de la Señal Senoidal</a:t>
            </a:r>
          </a:p>
        </p:txBody>
      </p:sp>
      <p:sp>
        <p:nvSpPr>
          <p:cNvPr id="4" name="Rectangle 1">
            <a:extLst>
              <a:ext uri="{FF2B5EF4-FFF2-40B4-BE49-F238E27FC236}">
                <a16:creationId xmlns:a16="http://schemas.microsoft.com/office/drawing/2014/main" id="{B265F282-F6E5-7166-63AC-9E85B586CFE1}"/>
              </a:ext>
            </a:extLst>
          </p:cNvPr>
          <p:cNvSpPr>
            <a:spLocks noGrp="1" noChangeArrowheads="1"/>
          </p:cNvSpPr>
          <p:nvPr>
            <p:ph idx="1"/>
          </p:nvPr>
        </p:nvSpPr>
        <p:spPr bwMode="auto">
          <a:xfrm>
            <a:off x="135635" y="1826738"/>
            <a:ext cx="1069427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La señal senoidal pura de 10 Hz se traduce en </a:t>
            </a:r>
            <a:r>
              <a:rPr kumimoji="0" lang="es-MX" altLang="es-MX" sz="1800" i="0" u="none" strike="noStrike" cap="none" normalizeH="0" baseline="0" dirty="0">
                <a:ln>
                  <a:noFill/>
                </a:ln>
                <a:solidFill>
                  <a:schemeClr val="tx1"/>
                </a:solidFill>
                <a:effectLst/>
              </a:rPr>
              <a:t>un impulso (pico) </a:t>
            </a:r>
            <a:r>
              <a:rPr kumimoji="0" lang="es-MX" altLang="es-MX" sz="1800" b="0" i="0" u="none" strike="noStrike" cap="none" normalizeH="0" baseline="0" dirty="0">
                <a:ln>
                  <a:noFill/>
                </a:ln>
                <a:solidFill>
                  <a:schemeClr val="tx1"/>
                </a:solidFill>
                <a:effectLst/>
              </a:rPr>
              <a:t>exacto en la frecuencia de 10 Hz en el espectro.</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Esto demuestra que la energía de la señal está concentrada en una sola frecuencia.</a:t>
            </a:r>
          </a:p>
          <a:p>
            <a:pPr marL="0" marR="0" lvl="0" indent="0" algn="l" defTabSz="914400" rtl="0" eaLnBrk="0" fontAlgn="base" latinLnBrk="0" hangingPunct="0">
              <a:lnSpc>
                <a:spcPct val="100000"/>
              </a:lnSpc>
              <a:spcBef>
                <a:spcPct val="0"/>
              </a:spcBef>
              <a:spcAft>
                <a:spcPct val="0"/>
              </a:spcAft>
              <a:buClrTx/>
              <a:buSzTx/>
              <a:buNone/>
              <a:tabLst/>
            </a:pPr>
            <a:endParaRPr lang="es-MX" altLang="es-MX"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p:txBody>
      </p:sp>
      <p:pic>
        <p:nvPicPr>
          <p:cNvPr id="6" name="Imagen 5">
            <a:extLst>
              <a:ext uri="{FF2B5EF4-FFF2-40B4-BE49-F238E27FC236}">
                <a16:creationId xmlns:a16="http://schemas.microsoft.com/office/drawing/2014/main" id="{21517D26-42F2-9265-8F92-08ED847473BF}"/>
              </a:ext>
            </a:extLst>
          </p:cNvPr>
          <p:cNvPicPr>
            <a:picLocks noChangeAspect="1"/>
          </p:cNvPicPr>
          <p:nvPr/>
        </p:nvPicPr>
        <p:blipFill>
          <a:blip r:embed="rId2"/>
          <a:stretch>
            <a:fillRect/>
          </a:stretch>
        </p:blipFill>
        <p:spPr>
          <a:xfrm>
            <a:off x="2501900" y="2909257"/>
            <a:ext cx="6083688" cy="3531456"/>
          </a:xfrm>
          <a:prstGeom prst="rect">
            <a:avLst/>
          </a:prstGeom>
        </p:spPr>
      </p:pic>
    </p:spTree>
    <p:extLst>
      <p:ext uri="{BB962C8B-B14F-4D97-AF65-F5344CB8AC3E}">
        <p14:creationId xmlns:p14="http://schemas.microsoft.com/office/powerpoint/2010/main" val="1688002082"/>
      </p:ext>
    </p:extLst>
  </p:cSld>
  <p:clrMapOvr>
    <a:masterClrMapping/>
  </p:clrMapOvr>
  <mc:AlternateContent xmlns:mc="http://schemas.openxmlformats.org/markup-compatibility/2006" xmlns:p14="http://schemas.microsoft.com/office/powerpoint/2010/main">
    <mc:Choice Requires="p14">
      <p:transition spd="slow" p14:dur="2000" advTm="26209"/>
    </mc:Choice>
    <mc:Fallback xmlns="">
      <p:transition spd="slow" advTm="2620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DBD6D5-DBB4-1E72-9CED-FCEE685A4535}"/>
              </a:ext>
            </a:extLst>
          </p:cNvPr>
          <p:cNvSpPr>
            <a:spLocks noGrp="1"/>
          </p:cNvSpPr>
          <p:nvPr>
            <p:ph type="title"/>
          </p:nvPr>
        </p:nvSpPr>
        <p:spPr/>
        <p:txBody>
          <a:bodyPr/>
          <a:lstStyle/>
          <a:p>
            <a:pPr algn="ctr"/>
            <a:r>
              <a:rPr lang="es-MX" dirty="0"/>
              <a:t>Pulso Rectangular y Función Sinc</a:t>
            </a:r>
          </a:p>
        </p:txBody>
      </p:sp>
      <p:sp>
        <p:nvSpPr>
          <p:cNvPr id="6" name="Rectangle 1">
            <a:extLst>
              <a:ext uri="{FF2B5EF4-FFF2-40B4-BE49-F238E27FC236}">
                <a16:creationId xmlns:a16="http://schemas.microsoft.com/office/drawing/2014/main" id="{C8356AA2-5D96-5D57-4920-D2863A79C01F}"/>
              </a:ext>
            </a:extLst>
          </p:cNvPr>
          <p:cNvSpPr>
            <a:spLocks noGrp="1" noChangeArrowheads="1"/>
          </p:cNvSpPr>
          <p:nvPr>
            <p:ph idx="1"/>
          </p:nvPr>
        </p:nvSpPr>
        <p:spPr bwMode="auto">
          <a:xfrm>
            <a:off x="0" y="1792936"/>
            <a:ext cx="106096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Un pulso cuadrado en el tiempo se transforma en una función </a:t>
            </a:r>
            <a:r>
              <a:rPr kumimoji="0" lang="es-MX" altLang="es-MX" sz="1800" i="0" u="none" strike="noStrike" cap="none" normalizeH="0" baseline="0" dirty="0">
                <a:ln>
                  <a:noFill/>
                </a:ln>
                <a:solidFill>
                  <a:schemeClr val="tx1"/>
                </a:solidFill>
                <a:effectLst/>
              </a:rPr>
              <a:t>Sinc</a:t>
            </a:r>
            <a:r>
              <a:rPr kumimoji="0" lang="es-MX" altLang="es-MX" sz="1800" b="0" i="0" u="none" strike="noStrike" cap="none" normalizeH="0" baseline="0" dirty="0">
                <a:ln>
                  <a:noFill/>
                </a:ln>
                <a:solidFill>
                  <a:schemeClr val="tx1"/>
                </a:solidFill>
                <a:effectLst/>
              </a:rPr>
              <a:t> en la frecuencia.</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Se observan los "lóbulos" laterales que indican que un cambio brusco en el tiempo (el borde del pulso) requiere</a:t>
            </a: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infinitas frecuencias para representarse.</a:t>
            </a:r>
          </a:p>
        </p:txBody>
      </p:sp>
      <p:pic>
        <p:nvPicPr>
          <p:cNvPr id="8" name="Imagen 7">
            <a:extLst>
              <a:ext uri="{FF2B5EF4-FFF2-40B4-BE49-F238E27FC236}">
                <a16:creationId xmlns:a16="http://schemas.microsoft.com/office/drawing/2014/main" id="{B4788803-6E8C-8E58-0C5B-6761E8184B88}"/>
              </a:ext>
            </a:extLst>
          </p:cNvPr>
          <p:cNvPicPr>
            <a:picLocks noChangeAspect="1"/>
          </p:cNvPicPr>
          <p:nvPr/>
        </p:nvPicPr>
        <p:blipFill>
          <a:blip r:embed="rId2"/>
          <a:stretch>
            <a:fillRect/>
          </a:stretch>
        </p:blipFill>
        <p:spPr>
          <a:xfrm>
            <a:off x="2514600" y="3184294"/>
            <a:ext cx="6120001" cy="3567330"/>
          </a:xfrm>
          <a:prstGeom prst="rect">
            <a:avLst/>
          </a:prstGeom>
        </p:spPr>
      </p:pic>
    </p:spTree>
    <p:extLst>
      <p:ext uri="{BB962C8B-B14F-4D97-AF65-F5344CB8AC3E}">
        <p14:creationId xmlns:p14="http://schemas.microsoft.com/office/powerpoint/2010/main" val="688158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FA3753F-064A-C185-7308-6893B3B3C4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807DDA-0031-7C9D-E939-3F07C7DAB668}"/>
              </a:ext>
            </a:extLst>
          </p:cNvPr>
          <p:cNvSpPr>
            <a:spLocks noGrp="1"/>
          </p:cNvSpPr>
          <p:nvPr>
            <p:ph type="title"/>
          </p:nvPr>
        </p:nvSpPr>
        <p:spPr>
          <a:xfrm>
            <a:off x="974319" y="427051"/>
            <a:ext cx="9784080" cy="1508760"/>
          </a:xfrm>
        </p:spPr>
        <p:txBody>
          <a:bodyPr>
            <a:normAutofit/>
          </a:bodyPr>
          <a:lstStyle/>
          <a:p>
            <a:pPr algn="ctr"/>
            <a:r>
              <a:rPr lang="es-MX" dirty="0"/>
              <a:t>Escalamiento</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D1B28B2-8BAB-DC54-428E-7E6531404FAF}"/>
                  </a:ext>
                </a:extLst>
              </p:cNvPr>
              <p:cNvSpPr>
                <a:spLocks noGrp="1"/>
              </p:cNvSpPr>
              <p:nvPr>
                <p:ph idx="1"/>
              </p:nvPr>
            </p:nvSpPr>
            <p:spPr>
              <a:xfrm>
                <a:off x="214460" y="2060916"/>
                <a:ext cx="11472715" cy="4168434"/>
              </a:xfrm>
            </p:spPr>
            <p:txBody>
              <a:bodyPr>
                <a:normAutofit/>
              </a:bodyPr>
              <a:lstStyle/>
              <a:p>
                <a:pPr marL="0" indent="0">
                  <a:buNone/>
                </a:pPr>
                <a:r>
                  <a:rPr lang="es-MX" sz="1800" dirty="0"/>
                  <a:t>Al hacer el pulso más angosto en el tiempo (línea naranja punteada), observamos que el espectro se vuelve más ancho.</a:t>
                </a:r>
              </a:p>
              <a:p>
                <a:pPr marL="0" indent="0">
                  <a:buNone/>
                </a:pPr>
                <a:r>
                  <a:rPr lang="es-MX" sz="1800" dirty="0"/>
                  <a:t>Si </a:t>
                </a:r>
                <a14:m>
                  <m:oMath xmlns:m="http://schemas.openxmlformats.org/officeDocument/2006/math">
                    <m:r>
                      <a:rPr lang="en-US" sz="1800" i="1"/>
                      <m:t>𝑥</m:t>
                    </m:r>
                    <m:r>
                      <a:rPr lang="en-US" sz="1800"/>
                      <m:t>(</m:t>
                    </m:r>
                    <m:r>
                      <a:rPr lang="en-US" sz="1800" i="1"/>
                      <m:t>𝑎𝑡</m:t>
                    </m:r>
                    <m:r>
                      <a:rPr lang="en-US" sz="1800"/>
                      <m:t>)↔</m:t>
                    </m:r>
                    <m:f>
                      <m:fPr>
                        <m:ctrlPr>
                          <a:rPr lang="es-MX" sz="1800" i="1"/>
                        </m:ctrlPr>
                      </m:fPr>
                      <m:num>
                        <m:r>
                          <a:rPr lang="en-US" sz="1800"/>
                          <m:t>1</m:t>
                        </m:r>
                      </m:num>
                      <m:den>
                        <m:r>
                          <a:rPr lang="en-US" sz="1800"/>
                          <m:t>|</m:t>
                        </m:r>
                        <m:r>
                          <a:rPr lang="en-US" sz="1800" i="1"/>
                          <m:t>𝑎</m:t>
                        </m:r>
                        <m:r>
                          <a:rPr lang="en-US" sz="1800"/>
                          <m:t>|</m:t>
                        </m:r>
                      </m:den>
                    </m:f>
                    <m:r>
                      <a:rPr lang="en-US" sz="1800" i="1"/>
                      <m:t>𝑋</m:t>
                    </m:r>
                    <m:d>
                      <m:dPr>
                        <m:ctrlPr>
                          <a:rPr lang="es-MX" sz="1800" i="1"/>
                        </m:ctrlPr>
                      </m:dPr>
                      <m:e>
                        <m:f>
                          <m:fPr>
                            <m:ctrlPr>
                              <a:rPr lang="es-MX" sz="1800" i="1"/>
                            </m:ctrlPr>
                          </m:fPr>
                          <m:num>
                            <m:r>
                              <a:rPr lang="en-US" sz="1800" i="1"/>
                              <m:t>𝑓</m:t>
                            </m:r>
                          </m:num>
                          <m:den>
                            <m:r>
                              <a:rPr lang="en-US" sz="1800" i="1"/>
                              <m:t>𝑎</m:t>
                            </m:r>
                          </m:den>
                        </m:f>
                      </m:e>
                    </m:d>
                  </m:oMath>
                </a14:m>
                <a:r>
                  <a:rPr lang="es-MX" sz="1800" dirty="0"/>
                  <a:t>. Esto confirma la relación inversa entre duración y ancho de banda.</a:t>
                </a:r>
              </a:p>
              <a:p>
                <a:pPr marL="0" indent="0">
                  <a:buNone/>
                </a:pPr>
                <a:endParaRPr lang="es-MX" sz="1800" dirty="0"/>
              </a:p>
            </p:txBody>
          </p:sp>
        </mc:Choice>
        <mc:Fallback>
          <p:sp>
            <p:nvSpPr>
              <p:cNvPr id="3" name="Marcador de contenido 2">
                <a:extLst>
                  <a:ext uri="{FF2B5EF4-FFF2-40B4-BE49-F238E27FC236}">
                    <a16:creationId xmlns:a16="http://schemas.microsoft.com/office/drawing/2014/main" id="{6D1B28B2-8BAB-DC54-428E-7E6531404FAF}"/>
                  </a:ext>
                </a:extLst>
              </p:cNvPr>
              <p:cNvSpPr>
                <a:spLocks noGrp="1" noRot="1" noChangeAspect="1" noMove="1" noResize="1" noEditPoints="1" noAdjustHandles="1" noChangeArrowheads="1" noChangeShapeType="1" noTextEdit="1"/>
              </p:cNvSpPr>
              <p:nvPr>
                <p:ph idx="1"/>
              </p:nvPr>
            </p:nvSpPr>
            <p:spPr>
              <a:xfrm>
                <a:off x="214460" y="2060916"/>
                <a:ext cx="11472715" cy="4168434"/>
              </a:xfrm>
              <a:blipFill>
                <a:blip r:embed="rId2"/>
                <a:stretch>
                  <a:fillRect l="-425" t="-1316"/>
                </a:stretch>
              </a:blipFill>
            </p:spPr>
            <p:txBody>
              <a:bodyPr/>
              <a:lstStyle/>
              <a:p>
                <a:r>
                  <a:rPr lang="es-MX">
                    <a:noFill/>
                  </a:rPr>
                  <a:t> </a:t>
                </a:r>
              </a:p>
            </p:txBody>
          </p:sp>
        </mc:Fallback>
      </mc:AlternateContent>
      <p:pic>
        <p:nvPicPr>
          <p:cNvPr id="7" name="Imagen 6">
            <a:extLst>
              <a:ext uri="{FF2B5EF4-FFF2-40B4-BE49-F238E27FC236}">
                <a16:creationId xmlns:a16="http://schemas.microsoft.com/office/drawing/2014/main" id="{DC00D76B-8531-492D-521B-632A44F8638A}"/>
              </a:ext>
            </a:extLst>
          </p:cNvPr>
          <p:cNvPicPr>
            <a:picLocks noChangeAspect="1"/>
          </p:cNvPicPr>
          <p:nvPr/>
        </p:nvPicPr>
        <p:blipFill>
          <a:blip r:embed="rId3"/>
          <a:stretch>
            <a:fillRect/>
          </a:stretch>
        </p:blipFill>
        <p:spPr>
          <a:xfrm>
            <a:off x="2736459" y="3047556"/>
            <a:ext cx="5601482" cy="3181794"/>
          </a:xfrm>
          <a:prstGeom prst="rect">
            <a:avLst/>
          </a:prstGeom>
        </p:spPr>
      </p:pic>
    </p:spTree>
    <p:extLst>
      <p:ext uri="{BB962C8B-B14F-4D97-AF65-F5344CB8AC3E}">
        <p14:creationId xmlns:p14="http://schemas.microsoft.com/office/powerpoint/2010/main" val="3019186783"/>
      </p:ext>
    </p:extLst>
  </p:cSld>
  <p:clrMapOvr>
    <a:masterClrMapping/>
  </p:clrMapOvr>
  <mc:AlternateContent xmlns:mc="http://schemas.openxmlformats.org/markup-compatibility/2006" xmlns:p14="http://schemas.microsoft.com/office/powerpoint/2010/main">
    <mc:Choice Requires="p14">
      <p:transition spd="slow" p14:dur="2000" advTm="70324"/>
    </mc:Choice>
    <mc:Fallback xmlns="">
      <p:transition spd="slow" advTm="7032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AB03A81-825C-54F7-C46D-1DAA741FB4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38C5F7-A1C7-431C-D321-B8131DF9B68A}"/>
              </a:ext>
            </a:extLst>
          </p:cNvPr>
          <p:cNvSpPr>
            <a:spLocks noGrp="1"/>
          </p:cNvSpPr>
          <p:nvPr>
            <p:ph type="title"/>
          </p:nvPr>
        </p:nvSpPr>
        <p:spPr>
          <a:xfrm>
            <a:off x="1202919" y="284176"/>
            <a:ext cx="9784080" cy="1508760"/>
          </a:xfrm>
        </p:spPr>
        <p:txBody>
          <a:bodyPr>
            <a:normAutofit/>
          </a:bodyPr>
          <a:lstStyle/>
          <a:p>
            <a:pPr algn="ctr"/>
            <a:r>
              <a:rPr lang="es-MX" dirty="0"/>
              <a:t>Desplazamiento y Fase</a:t>
            </a:r>
          </a:p>
        </p:txBody>
      </p:sp>
      <p:sp>
        <p:nvSpPr>
          <p:cNvPr id="4" name="Rectangle 1">
            <a:extLst>
              <a:ext uri="{FF2B5EF4-FFF2-40B4-BE49-F238E27FC236}">
                <a16:creationId xmlns:a16="http://schemas.microsoft.com/office/drawing/2014/main" id="{AB99D97C-2DCD-948B-542A-C406584B230A}"/>
              </a:ext>
            </a:extLst>
          </p:cNvPr>
          <p:cNvSpPr>
            <a:spLocks noGrp="1" noChangeArrowheads="1"/>
          </p:cNvSpPr>
          <p:nvPr>
            <p:ph idx="1"/>
          </p:nvPr>
        </p:nvSpPr>
        <p:spPr bwMode="auto">
          <a:xfrm>
            <a:off x="90979" y="1976736"/>
            <a:ext cx="1130341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Al mover la señal en el tiempo (delay), </a:t>
            </a:r>
            <a:r>
              <a:rPr kumimoji="0" lang="es-MX" altLang="es-MX" sz="1800" i="0" u="none" strike="noStrike" cap="none" normalizeH="0" baseline="0" dirty="0">
                <a:ln>
                  <a:noFill/>
                </a:ln>
                <a:solidFill>
                  <a:schemeClr val="tx1"/>
                </a:solidFill>
                <a:effectLst/>
              </a:rPr>
              <a:t>la magnitud del espectro permanece igual, pero la fase cambia linealmente</a:t>
            </a:r>
            <a:r>
              <a:rPr kumimoji="0" lang="es-MX" altLang="es-MX"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Esto es fundamental para entender el retraso de señales en sistemas de comunicación.</a:t>
            </a:r>
          </a:p>
        </p:txBody>
      </p:sp>
      <p:pic>
        <p:nvPicPr>
          <p:cNvPr id="6" name="Imagen 5">
            <a:extLst>
              <a:ext uri="{FF2B5EF4-FFF2-40B4-BE49-F238E27FC236}">
                <a16:creationId xmlns:a16="http://schemas.microsoft.com/office/drawing/2014/main" id="{1CB2A8C6-DF8C-61FD-C9EC-D0B2905A6E7A}"/>
              </a:ext>
            </a:extLst>
          </p:cNvPr>
          <p:cNvPicPr>
            <a:picLocks noChangeAspect="1"/>
          </p:cNvPicPr>
          <p:nvPr/>
        </p:nvPicPr>
        <p:blipFill>
          <a:blip r:embed="rId2"/>
          <a:stretch>
            <a:fillRect/>
          </a:stretch>
        </p:blipFill>
        <p:spPr>
          <a:xfrm>
            <a:off x="2374900" y="3037102"/>
            <a:ext cx="5842372" cy="3536722"/>
          </a:xfrm>
          <a:prstGeom prst="rect">
            <a:avLst/>
          </a:prstGeom>
        </p:spPr>
      </p:pic>
    </p:spTree>
    <p:extLst>
      <p:ext uri="{BB962C8B-B14F-4D97-AF65-F5344CB8AC3E}">
        <p14:creationId xmlns:p14="http://schemas.microsoft.com/office/powerpoint/2010/main" val="1555743156"/>
      </p:ext>
    </p:extLst>
  </p:cSld>
  <p:clrMapOvr>
    <a:masterClrMapping/>
  </p:clrMapOvr>
  <mc:AlternateContent xmlns:mc="http://schemas.openxmlformats.org/markup-compatibility/2006" xmlns:p14="http://schemas.microsoft.com/office/powerpoint/2010/main">
    <mc:Choice Requires="p14">
      <p:transition spd="slow" p14:dur="2000" advTm="37568"/>
    </mc:Choice>
    <mc:Fallback xmlns="">
      <p:transition spd="slow" advTm="3756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4F0B2-5998-B899-BE79-8C9B49A4EDD6}"/>
              </a:ext>
            </a:extLst>
          </p:cNvPr>
          <p:cNvSpPr>
            <a:spLocks noGrp="1"/>
          </p:cNvSpPr>
          <p:nvPr>
            <p:ph type="title"/>
          </p:nvPr>
        </p:nvSpPr>
        <p:spPr>
          <a:xfrm>
            <a:off x="533400" y="284176"/>
            <a:ext cx="10453599" cy="1508760"/>
          </a:xfrm>
        </p:spPr>
        <p:txBody>
          <a:bodyPr/>
          <a:lstStyle/>
          <a:p>
            <a:pPr algn="ctr"/>
            <a:r>
              <a:rPr lang="es-MX" dirty="0"/>
              <a:t>Análisis y Comparación (Dominio T vs F)</a:t>
            </a:r>
          </a:p>
        </p:txBody>
      </p:sp>
      <p:sp>
        <p:nvSpPr>
          <p:cNvPr id="4" name="Rectangle 1">
            <a:extLst>
              <a:ext uri="{FF2B5EF4-FFF2-40B4-BE49-F238E27FC236}">
                <a16:creationId xmlns:a16="http://schemas.microsoft.com/office/drawing/2014/main" id="{ACE90DCF-408A-A92E-7D2D-7DACB6D7D070}"/>
              </a:ext>
            </a:extLst>
          </p:cNvPr>
          <p:cNvSpPr>
            <a:spLocks noGrp="1" noChangeArrowheads="1"/>
          </p:cNvSpPr>
          <p:nvPr>
            <p:ph idx="1"/>
          </p:nvPr>
        </p:nvSpPr>
        <p:spPr bwMode="auto">
          <a:xfrm>
            <a:off x="352425" y="2161374"/>
            <a:ext cx="94519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Comparación:</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pPr>
            <a:r>
              <a:rPr kumimoji="0" lang="es-MX" altLang="es-MX" sz="1800" b="1" i="0" u="none" strike="noStrike" cap="none" normalizeH="0" baseline="0" dirty="0">
                <a:ln>
                  <a:noFill/>
                </a:ln>
                <a:solidFill>
                  <a:schemeClr val="tx1"/>
                </a:solidFill>
                <a:effectLst/>
              </a:rPr>
              <a:t>Dominio del Tiempo:</a:t>
            </a:r>
            <a:r>
              <a:rPr kumimoji="0" lang="es-MX" altLang="es-MX" sz="1800" b="0" i="0" u="none" strike="noStrike" cap="none" normalizeH="0" baseline="0" dirty="0">
                <a:ln>
                  <a:noFill/>
                </a:ln>
                <a:solidFill>
                  <a:schemeClr val="tx1"/>
                </a:solidFill>
                <a:effectLst/>
              </a:rPr>
              <a:t> Nos dice cuándo ocurren los eventos (amplitud vs tiempo).</a:t>
            </a:r>
          </a:p>
          <a:p>
            <a:pPr marL="0" indent="0" eaLnBrk="0" fontAlgn="base" hangingPunct="0">
              <a:lnSpc>
                <a:spcPct val="100000"/>
              </a:lnSpc>
              <a:spcBef>
                <a:spcPct val="0"/>
              </a:spcBef>
              <a:spcAft>
                <a:spcPct val="0"/>
              </a:spcAft>
              <a:buClrTx/>
              <a:buNone/>
            </a:pPr>
            <a:endParaRPr kumimoji="0" lang="es-MX" altLang="es-MX"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pPr>
            <a:r>
              <a:rPr kumimoji="0" lang="es-MX" altLang="es-MX" sz="1800" b="1" i="0" u="none" strike="noStrike" cap="none" normalizeH="0" baseline="0" dirty="0">
                <a:ln>
                  <a:noFill/>
                </a:ln>
                <a:solidFill>
                  <a:schemeClr val="tx1"/>
                </a:solidFill>
                <a:effectLst/>
              </a:rPr>
              <a:t>Dominio de la Frecuencia:</a:t>
            </a:r>
            <a:r>
              <a:rPr kumimoji="0" lang="es-MX" altLang="es-MX" sz="1800" b="0" i="0" u="none" strike="noStrike" cap="none" normalizeH="0" baseline="0" dirty="0">
                <a:ln>
                  <a:noFill/>
                </a:ln>
                <a:solidFill>
                  <a:schemeClr val="tx1"/>
                </a:solidFill>
                <a:effectLst/>
              </a:rPr>
              <a:t> Nos dice qué tipos de oscilaciones componen la señal (amplitud vs frecuencia).</a:t>
            </a:r>
          </a:p>
          <a:p>
            <a:pPr marL="0" indent="0" eaLnBrk="0" fontAlgn="base" hangingPunct="0">
              <a:lnSpc>
                <a:spcPct val="100000"/>
              </a:lnSpc>
              <a:spcBef>
                <a:spcPct val="0"/>
              </a:spcBef>
              <a:spcAft>
                <a:spcPct val="0"/>
              </a:spcAft>
              <a:buClrTx/>
              <a:buNone/>
            </a:pPr>
            <a:endParaRPr kumimoji="0" lang="es-MX" altLang="es-MX"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1" i="0" u="none" strike="noStrike" cap="none" normalizeH="0" baseline="0" dirty="0">
                <a:ln>
                  <a:noFill/>
                </a:ln>
                <a:solidFill>
                  <a:schemeClr val="tx1"/>
                </a:solidFill>
                <a:effectLst/>
              </a:rPr>
              <a:t>Hallazgo:</a:t>
            </a:r>
            <a:r>
              <a:rPr kumimoji="0" lang="es-MX" altLang="es-MX"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endParaRPr lang="es-MX" altLang="es-MX" sz="1800" dirty="0"/>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b="0" i="0" u="none" strike="noStrike" cap="none" normalizeH="0" baseline="0" dirty="0">
                <a:ln>
                  <a:noFill/>
                </a:ln>
                <a:solidFill>
                  <a:schemeClr val="tx1"/>
                </a:solidFill>
                <a:effectLst/>
              </a:rPr>
              <a:t>Analizar en frecuencia permite eliminar ruido fácilmente, ya que el ruido suele estar en frecuencias distintas a la de la señal de interés.</a:t>
            </a:r>
          </a:p>
        </p:txBody>
      </p:sp>
    </p:spTree>
    <p:extLst>
      <p:ext uri="{BB962C8B-B14F-4D97-AF65-F5344CB8AC3E}">
        <p14:creationId xmlns:p14="http://schemas.microsoft.com/office/powerpoint/2010/main" val="539258511"/>
      </p:ext>
    </p:extLst>
  </p:cSld>
  <p:clrMapOvr>
    <a:masterClrMapping/>
  </p:clrMapOvr>
  <mc:AlternateContent xmlns:mc="http://schemas.openxmlformats.org/markup-compatibility/2006" xmlns:p14="http://schemas.microsoft.com/office/powerpoint/2010/main">
    <mc:Choice Requires="p14">
      <p:transition spd="slow" p14:dur="2000" advTm="31178"/>
    </mc:Choice>
    <mc:Fallback xmlns="">
      <p:transition spd="slow" advTm="3117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D13149-5C29-86AE-7C4D-643B885B63DA}"/>
              </a:ext>
            </a:extLst>
          </p:cNvPr>
          <p:cNvSpPr>
            <a:spLocks noGrp="1"/>
          </p:cNvSpPr>
          <p:nvPr>
            <p:ph type="title"/>
          </p:nvPr>
        </p:nvSpPr>
        <p:spPr/>
        <p:txBody>
          <a:bodyPr/>
          <a:lstStyle/>
          <a:p>
            <a:pPr algn="ctr"/>
            <a:r>
              <a:rPr lang="es-MX" dirty="0"/>
              <a:t>Conclusión</a:t>
            </a:r>
          </a:p>
        </p:txBody>
      </p:sp>
      <p:sp>
        <p:nvSpPr>
          <p:cNvPr id="4" name="Rectangle 1">
            <a:extLst>
              <a:ext uri="{FF2B5EF4-FFF2-40B4-BE49-F238E27FC236}">
                <a16:creationId xmlns:a16="http://schemas.microsoft.com/office/drawing/2014/main" id="{149D4730-DA2E-9BFD-4277-1B12E344AFB4}"/>
              </a:ext>
            </a:extLst>
          </p:cNvPr>
          <p:cNvSpPr>
            <a:spLocks noGrp="1" noChangeArrowheads="1"/>
          </p:cNvSpPr>
          <p:nvPr>
            <p:ph idx="1"/>
          </p:nvPr>
        </p:nvSpPr>
        <p:spPr bwMode="auto">
          <a:xfrm>
            <a:off x="317500" y="2026929"/>
            <a:ext cx="11087100" cy="4105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s-MX" sz="1800" dirty="0"/>
              <a:t>Confirmamos que los eventos rápidos en el tiempo (bordes de un pulso) generan un espectro amplio, mientras que señales suaves (senos) generan espectros concentrados. No se puede tener alta resolución en ambos dominios simultáneamente; es el principio de incertidumbre aplicado al procesamiento de señales.</a:t>
            </a:r>
          </a:p>
          <a:p>
            <a:pPr marL="0" indent="0">
              <a:buNone/>
            </a:pPr>
            <a:r>
              <a:rPr lang="es-MX" sz="1800" dirty="0"/>
              <a:t>Observamos que comprimir la señal en el tiempo expande su ancho de banda. Esto explica por qué las comunicaciones de alta velocidad requieren más espectro de frecuencia. Validamos que mover una señal en el tiempo solo afecta su fase. Esto es crítico en sistemas de radar y telecomunicaciones para medir retardos sin perder la integridad de la información. El uso de np.fft.fft permitió procesar miles de muestras en milisegundos.</a:t>
            </a:r>
          </a:p>
          <a:p>
            <a:pPr marL="0" indent="0">
              <a:buNone/>
            </a:pPr>
            <a:r>
              <a:rPr lang="es-MX" sz="1800" dirty="0"/>
              <a:t>La eficiencia algorítmica es lo que permite que tecnologías modernas como el 5G, </a:t>
            </a:r>
            <a:r>
              <a:rPr lang="es-MX" sz="1800" dirty="0" err="1"/>
              <a:t>Wi</a:t>
            </a:r>
            <a:r>
              <a:rPr lang="es-MX" sz="1800" dirty="0"/>
              <a:t>-Fi y la compresión de audio (MP3) funcionen en tiempo real. La Transformada de Fourier no es solo una fórmula; es un lente que nos permite ver la 'huella digital' de cualquier fenómeno físico. Pasar del dominio del tiempo al de la frecuencia simplifica problemas complejos de filtrado y análisis que serían imposibles de resolver de otra manera.</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i="0" u="none" strike="noStrike" cap="none" normalizeH="0" baseline="0" dirty="0">
                <a:ln>
                  <a:noFill/>
                </a:ln>
                <a:solidFill>
                  <a:schemeClr val="tx1"/>
                </a:solidFill>
                <a:effectLst/>
              </a:rPr>
              <a:t>Bibliografía:</a:t>
            </a: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1800" i="1" u="none" strike="noStrike" cap="none" normalizeH="0" baseline="0" dirty="0">
                <a:ln>
                  <a:noFill/>
                </a:ln>
                <a:solidFill>
                  <a:schemeClr val="tx1"/>
                </a:solidFill>
                <a:effectLst/>
              </a:rPr>
              <a:t>Kamen, E.; Heck, B. (2008). Fundamentos de Señales y Sistemas. México: Editorial Pearson.</a:t>
            </a:r>
          </a:p>
        </p:txBody>
      </p:sp>
    </p:spTree>
    <p:extLst>
      <p:ext uri="{BB962C8B-B14F-4D97-AF65-F5344CB8AC3E}">
        <p14:creationId xmlns:p14="http://schemas.microsoft.com/office/powerpoint/2010/main" val="3602498461"/>
      </p:ext>
    </p:extLst>
  </p:cSld>
  <p:clrMapOvr>
    <a:masterClrMapping/>
  </p:clrMapOvr>
  <mc:AlternateContent xmlns:mc="http://schemas.openxmlformats.org/markup-compatibility/2006" xmlns:p14="http://schemas.microsoft.com/office/powerpoint/2010/main">
    <mc:Choice Requires="p14">
      <p:transition spd="slow" p14:dur="2000" advTm="30158"/>
    </mc:Choice>
    <mc:Fallback xmlns="">
      <p:transition spd="slow" advTm="30158"/>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 bandas">
  <a:themeElements>
    <a:clrScheme name="Con bandas">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Con banda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on bandas">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TM03090430[[fn=Con bandas]]</Template>
  <TotalTime>10325</TotalTime>
  <Words>738</Words>
  <Application>Microsoft Office PowerPoint</Application>
  <PresentationFormat>Panorámica</PresentationFormat>
  <Paragraphs>72</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Corbel</vt:lpstr>
      <vt:lpstr>Roboto</vt:lpstr>
      <vt:lpstr>Wingdings</vt:lpstr>
      <vt:lpstr>Con bandas</vt:lpstr>
      <vt:lpstr>Actividad formativa 2. Simulación y análisis de señales con la transformada de Fourier</vt:lpstr>
      <vt:lpstr>Introducción</vt:lpstr>
      <vt:lpstr>Herramientas de Desarrollo</vt:lpstr>
      <vt:lpstr>Implementación de Señales Elementales</vt:lpstr>
      <vt:lpstr>Espectro de la Señal Senoidal</vt:lpstr>
      <vt:lpstr>Pulso Rectangular y Función Sinc</vt:lpstr>
      <vt:lpstr>Escalamiento</vt:lpstr>
      <vt:lpstr>Desplazamiento y Fase</vt:lpstr>
      <vt:lpstr>Análisis y Comparación (Dominio T vs F)</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azurbravo@outlook.es</dc:creator>
  <cp:lastModifiedBy>azur bravo</cp:lastModifiedBy>
  <cp:revision>12</cp:revision>
  <dcterms:created xsi:type="dcterms:W3CDTF">2025-01-21T06:24:07Z</dcterms:created>
  <dcterms:modified xsi:type="dcterms:W3CDTF">2026-02-24T11:32:15Z</dcterms:modified>
</cp:coreProperties>
</file>